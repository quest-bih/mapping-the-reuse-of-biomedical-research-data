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0" r:id="rId2"/>
  </p:sldIdLst>
  <p:sldSz cx="64008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0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D4FF"/>
    <a:srgbClr val="93FF81"/>
    <a:srgbClr val="D9FFDD"/>
    <a:srgbClr val="B7FFAB"/>
    <a:srgbClr val="D8F6E3"/>
    <a:srgbClr val="2CF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3096" y="102"/>
      </p:cViewPr>
      <p:guideLst>
        <p:guide orient="horz" pos="2880"/>
        <p:guide pos="201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1496484"/>
            <a:ext cx="5440680" cy="3183467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4802717"/>
            <a:ext cx="4800600" cy="2207683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227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555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2279653"/>
            <a:ext cx="5520690" cy="3803649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6119286"/>
            <a:ext cx="5520690" cy="2000249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/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347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2434167"/>
            <a:ext cx="272034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2434167"/>
            <a:ext cx="272034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1349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86836"/>
            <a:ext cx="552069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2241551"/>
            <a:ext cx="2707838" cy="1098549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3340100"/>
            <a:ext cx="270783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2241551"/>
            <a:ext cx="2721174" cy="1098549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3340100"/>
            <a:ext cx="2721174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4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400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8965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609600"/>
            <a:ext cx="2064425" cy="213360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1316569"/>
            <a:ext cx="3240405" cy="6498167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2743200"/>
            <a:ext cx="2064425" cy="5082117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992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609600"/>
            <a:ext cx="2064425" cy="213360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1316569"/>
            <a:ext cx="3240405" cy="6498167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2743200"/>
            <a:ext cx="2064425" cy="5082117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7438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043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486834"/>
            <a:ext cx="138017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486834"/>
            <a:ext cx="406050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669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486836"/>
            <a:ext cx="552069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2434167"/>
            <a:ext cx="552069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8475136"/>
            <a:ext cx="14401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14EEA-DE26-4810-8E05-A65F0010FADE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8475136"/>
            <a:ext cx="216027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8475136"/>
            <a:ext cx="14401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63985-1799-466C-BA1D-1A321B4EA6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222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5FFAA89-345F-BDB3-C480-4B54FF8AFF5D}"/>
              </a:ext>
            </a:extLst>
          </p:cNvPr>
          <p:cNvGrpSpPr/>
          <p:nvPr/>
        </p:nvGrpSpPr>
        <p:grpSpPr>
          <a:xfrm>
            <a:off x="74747" y="219456"/>
            <a:ext cx="6326053" cy="8705088"/>
            <a:chOff x="683797" y="835071"/>
            <a:chExt cx="6326053" cy="870508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F1A589E-DD35-441D-ABDA-37D4F20F0379}"/>
                </a:ext>
              </a:extLst>
            </p:cNvPr>
            <p:cNvSpPr/>
            <p:nvPr/>
          </p:nvSpPr>
          <p:spPr>
            <a:xfrm>
              <a:off x="4065153" y="4009166"/>
              <a:ext cx="994383" cy="412615"/>
            </a:xfrm>
            <a:prstGeom prst="roundRect">
              <a:avLst/>
            </a:prstGeom>
            <a:gradFill flip="none" rotWithShape="1">
              <a:gsLst>
                <a:gs pos="84000">
                  <a:srgbClr val="FCE5D6"/>
                </a:gs>
                <a:gs pos="68000">
                  <a:schemeClr val="accent2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2,385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15322F6-77E8-48C4-B056-50F80F699609}"/>
                </a:ext>
              </a:extLst>
            </p:cNvPr>
            <p:cNvSpPr/>
            <p:nvPr/>
          </p:nvSpPr>
          <p:spPr>
            <a:xfrm>
              <a:off x="4065153" y="5088945"/>
              <a:ext cx="994383" cy="412615"/>
            </a:xfrm>
            <a:prstGeom prst="roundRect">
              <a:avLst/>
            </a:prstGeom>
            <a:gradFill flip="none" rotWithShape="1">
              <a:gsLst>
                <a:gs pos="84000">
                  <a:srgbClr val="FCE5D6"/>
                </a:gs>
                <a:gs pos="68000">
                  <a:schemeClr val="accent2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118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5F9B437-0D9F-43EC-AE11-4D38AB16DEF0}"/>
                </a:ext>
              </a:extLst>
            </p:cNvPr>
            <p:cNvSpPr/>
            <p:nvPr/>
          </p:nvSpPr>
          <p:spPr>
            <a:xfrm>
              <a:off x="4065173" y="7103997"/>
              <a:ext cx="994383" cy="412615"/>
            </a:xfrm>
            <a:prstGeom prst="roundRect">
              <a:avLst/>
            </a:prstGeom>
            <a:gradFill flip="none" rotWithShape="1">
              <a:gsLst>
                <a:gs pos="84000">
                  <a:srgbClr val="FCE5D6"/>
                </a:gs>
                <a:gs pos="68000">
                  <a:schemeClr val="accent2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1,032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2C13C7B-2E0E-4FF4-AB33-135574BA2A77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4562344" y="4421780"/>
              <a:ext cx="0" cy="667166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518AA32-5E69-499A-A2CB-589D567F8FD8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4562345" y="5501561"/>
              <a:ext cx="20" cy="1602437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95B561F-3DB8-42CB-9CBC-038948D310CA}"/>
                </a:ext>
              </a:extLst>
            </p:cNvPr>
            <p:cNvSpPr/>
            <p:nvPr/>
          </p:nvSpPr>
          <p:spPr>
            <a:xfrm>
              <a:off x="5040651" y="3976289"/>
              <a:ext cx="1841043" cy="4896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Restricted-Access</a:t>
              </a:r>
            </a:p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and Open Datasets</a:t>
              </a:r>
              <a:endParaRPr lang="de-DE" sz="129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272B207-7A8B-4402-9F52-285DC1B0BBA2}"/>
                </a:ext>
              </a:extLst>
            </p:cNvPr>
            <p:cNvSpPr/>
            <p:nvPr/>
          </p:nvSpPr>
          <p:spPr>
            <a:xfrm>
              <a:off x="5063715" y="5042445"/>
              <a:ext cx="1178620" cy="4896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Referenced</a:t>
              </a:r>
            </a:p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Datasets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419C2CA-81E4-44C0-8AA4-173BAF7F34BD}"/>
                </a:ext>
              </a:extLst>
            </p:cNvPr>
            <p:cNvSpPr/>
            <p:nvPr/>
          </p:nvSpPr>
          <p:spPr>
            <a:xfrm>
              <a:off x="5063715" y="7051395"/>
              <a:ext cx="1105043" cy="4896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</a:p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of Datasets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7BA3527-87EC-4319-9AE6-9AF455FE0676}"/>
                </a:ext>
              </a:extLst>
            </p:cNvPr>
            <p:cNvSpPr/>
            <p:nvPr/>
          </p:nvSpPr>
          <p:spPr>
            <a:xfrm>
              <a:off x="1793604" y="5088945"/>
              <a:ext cx="956613" cy="412615"/>
            </a:xfrm>
            <a:prstGeom prst="roundRect">
              <a:avLst/>
            </a:prstGeom>
            <a:gradFill flip="none" rotWithShape="1">
              <a:gsLst>
                <a:gs pos="84000">
                  <a:schemeClr val="accent1">
                    <a:lumMod val="20000"/>
                    <a:lumOff val="80000"/>
                  </a:schemeClr>
                </a:gs>
                <a:gs pos="68000">
                  <a:schemeClr val="accent1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119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B34D7AD-5FA7-4F4B-A347-F882B053B048}"/>
                </a:ext>
              </a:extLst>
            </p:cNvPr>
            <p:cNvSpPr/>
            <p:nvPr/>
          </p:nvSpPr>
          <p:spPr>
            <a:xfrm>
              <a:off x="1793623" y="7103997"/>
              <a:ext cx="964092" cy="412615"/>
            </a:xfrm>
            <a:prstGeom prst="roundRect">
              <a:avLst/>
            </a:prstGeom>
            <a:gradFill flip="none" rotWithShape="1">
              <a:gsLst>
                <a:gs pos="84000">
                  <a:schemeClr val="accent1">
                    <a:lumMod val="20000"/>
                    <a:lumOff val="80000"/>
                  </a:schemeClr>
                </a:gs>
                <a:gs pos="68000">
                  <a:schemeClr val="accent1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790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692EBCE-E7C8-498F-9B66-D28428C38FE7}"/>
                </a:ext>
              </a:extLst>
            </p:cNvPr>
            <p:cNvSpPr/>
            <p:nvPr/>
          </p:nvSpPr>
          <p:spPr>
            <a:xfrm>
              <a:off x="2933200" y="8137041"/>
              <a:ext cx="956613" cy="412615"/>
            </a:xfrm>
            <a:prstGeom prst="roundRect">
              <a:avLst/>
            </a:prstGeom>
            <a:gradFill flip="none" rotWithShape="1">
              <a:gsLst>
                <a:gs pos="84000">
                  <a:srgbClr val="D8F6E3"/>
                </a:gs>
                <a:gs pos="65000">
                  <a:srgbClr val="93FF81"/>
                </a:gs>
                <a:gs pos="100000">
                  <a:srgbClr val="D9FFDD"/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1,497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4A59E55-1123-41CF-9FF3-F2082F8B3C5D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2271909" y="5501561"/>
              <a:ext cx="3760" cy="1602437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C8CB980-D4CC-4B64-97C7-0DACD7E52C16}"/>
                </a:ext>
              </a:extLst>
            </p:cNvPr>
            <p:cNvCxnSpPr>
              <a:cxnSpLocks/>
              <a:stCxn id="38" idx="2"/>
              <a:endCxn id="39" idx="0"/>
            </p:cNvCxnSpPr>
            <p:nvPr/>
          </p:nvCxnSpPr>
          <p:spPr>
            <a:xfrm>
              <a:off x="2275670" y="7516612"/>
              <a:ext cx="1135837" cy="62042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6500A19-34AF-481D-90E9-7A15CD95C98D}"/>
                </a:ext>
              </a:extLst>
            </p:cNvPr>
            <p:cNvSpPr/>
            <p:nvPr/>
          </p:nvSpPr>
          <p:spPr>
            <a:xfrm>
              <a:off x="683797" y="5042445"/>
              <a:ext cx="1066474" cy="4896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Referenced</a:t>
              </a:r>
            </a:p>
            <a:p>
              <a:pPr algn="r"/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Datasets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D7A0D1F-7F9E-42B5-9084-1E0CD2E1F859}"/>
                </a:ext>
              </a:extLst>
            </p:cNvPr>
            <p:cNvSpPr/>
            <p:nvPr/>
          </p:nvSpPr>
          <p:spPr>
            <a:xfrm>
              <a:off x="685202" y="7051392"/>
              <a:ext cx="1066474" cy="4896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</a:p>
            <a:p>
              <a:pPr algn="r"/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of Datasets</a:t>
              </a:r>
              <a:endParaRPr lang="de-DE" sz="129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FBE4FCF-8599-453D-ACF1-7A4330EE1F2C}"/>
                </a:ext>
              </a:extLst>
            </p:cNvPr>
            <p:cNvCxnSpPr>
              <a:cxnSpLocks/>
              <a:stCxn id="13" idx="2"/>
              <a:endCxn id="39" idx="0"/>
            </p:cNvCxnSpPr>
            <p:nvPr/>
          </p:nvCxnSpPr>
          <p:spPr>
            <a:xfrm flipH="1">
              <a:off x="3411507" y="7516612"/>
              <a:ext cx="1150859" cy="62042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68D4145-09E9-49E0-ADC6-0FAF2836A917}"/>
                </a:ext>
              </a:extLst>
            </p:cNvPr>
            <p:cNvSpPr/>
            <p:nvPr/>
          </p:nvSpPr>
          <p:spPr>
            <a:xfrm>
              <a:off x="2117257" y="8590668"/>
              <a:ext cx="2634961" cy="9494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References of Datasets</a:t>
              </a:r>
            </a:p>
            <a:p>
              <a:pPr algn="ctr">
                <a:lnSpc>
                  <a:spcPct val="150000"/>
                </a:lnSpc>
              </a:pPr>
              <a:r>
                <a:rPr lang="en-US" sz="129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Published in 134 Charité Papers</a:t>
              </a:r>
              <a:endParaRPr lang="de-DE" sz="129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de-DE" sz="129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Reused by 1,390 Papers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46E5E13-378B-484F-A381-094CCFBA2949}"/>
                </a:ext>
              </a:extLst>
            </p:cNvPr>
            <p:cNvCxnSpPr>
              <a:cxnSpLocks/>
              <a:stCxn id="89" idx="2"/>
              <a:endCxn id="9" idx="0"/>
            </p:cNvCxnSpPr>
            <p:nvPr/>
          </p:nvCxnSpPr>
          <p:spPr>
            <a:xfrm>
              <a:off x="4557867" y="3268850"/>
              <a:ext cx="4478" cy="740315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D114DA72-2DDC-49FF-88D2-5DA57C7BF46C}"/>
                </a:ext>
              </a:extLst>
            </p:cNvPr>
            <p:cNvSpPr/>
            <p:nvPr/>
          </p:nvSpPr>
          <p:spPr>
            <a:xfrm>
              <a:off x="2963761" y="6027801"/>
              <a:ext cx="956613" cy="412615"/>
            </a:xfrm>
            <a:prstGeom prst="roundRect">
              <a:avLst/>
            </a:prstGeom>
            <a:gradFill flip="none" rotWithShape="1">
              <a:gsLst>
                <a:gs pos="84000">
                  <a:srgbClr val="D8F6E3"/>
                </a:gs>
                <a:gs pos="65000">
                  <a:srgbClr val="93FF81"/>
                </a:gs>
                <a:gs pos="100000">
                  <a:srgbClr val="D9FFDD"/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175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DEBAAEA7-28FC-4C4C-85C6-F295E82C619C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>
              <a:off x="2424329" y="5515238"/>
              <a:ext cx="1017738" cy="512563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BFAE4691-A331-4DBF-B116-0C1888F2171E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 flipH="1">
              <a:off x="3442068" y="5515238"/>
              <a:ext cx="975517" cy="512563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2BD9BD0-063F-41F0-AF7A-83DA5949A806}"/>
                </a:ext>
              </a:extLst>
            </p:cNvPr>
            <p:cNvSpPr/>
            <p:nvPr/>
          </p:nvSpPr>
          <p:spPr>
            <a:xfrm>
              <a:off x="2436224" y="6474051"/>
              <a:ext cx="1965543" cy="2909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Referenced Datasets</a:t>
              </a:r>
              <a:endParaRPr lang="de-DE" sz="129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E036A8D5-381A-49F8-A9E1-4091609F5EF9}"/>
                </a:ext>
              </a:extLst>
            </p:cNvPr>
            <p:cNvSpPr/>
            <p:nvPr/>
          </p:nvSpPr>
          <p:spPr>
            <a:xfrm>
              <a:off x="4060675" y="2856235"/>
              <a:ext cx="994383" cy="412615"/>
            </a:xfrm>
            <a:prstGeom prst="roundRect">
              <a:avLst/>
            </a:prstGeom>
            <a:gradFill flip="none" rotWithShape="1">
              <a:gsLst>
                <a:gs pos="84000">
                  <a:srgbClr val="FCE5D6"/>
                </a:gs>
                <a:gs pos="68000">
                  <a:schemeClr val="accent2">
                    <a:lumMod val="40000"/>
                    <a:lumOff val="60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1,583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5DFAD21-E790-4E44-A833-74531D5D852B}"/>
                </a:ext>
              </a:extLst>
            </p:cNvPr>
            <p:cNvSpPr/>
            <p:nvPr/>
          </p:nvSpPr>
          <p:spPr>
            <a:xfrm>
              <a:off x="5055058" y="2836118"/>
              <a:ext cx="1954792" cy="4896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91" dirty="0">
                  <a:latin typeface="Arial" panose="020B0604020202020204" pitchFamily="34" charset="0"/>
                  <a:cs typeface="Arial" panose="020B0604020202020204" pitchFamily="34" charset="0"/>
                </a:rPr>
                <a:t>Charité Papers with Shared Datasets</a:t>
              </a:r>
              <a:endParaRPr lang="de-DE" sz="129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F56F1E4-3546-4BA0-88CD-F399B7C26180}"/>
                </a:ext>
              </a:extLst>
            </p:cNvPr>
            <p:cNvSpPr/>
            <p:nvPr/>
          </p:nvSpPr>
          <p:spPr>
            <a:xfrm>
              <a:off x="1726516" y="835071"/>
              <a:ext cx="3384956" cy="412615"/>
            </a:xfrm>
            <a:prstGeom prst="roundRect">
              <a:avLst/>
            </a:prstGeom>
            <a:gradFill flip="none" rotWithShape="1">
              <a:gsLst>
                <a:gs pos="69000">
                  <a:schemeClr val="accent2">
                    <a:lumMod val="60000"/>
                    <a:lumOff val="40000"/>
                  </a:schemeClr>
                </a:gs>
                <a:gs pos="0">
                  <a:schemeClr val="accent2"/>
                </a:gs>
                <a:gs pos="100000">
                  <a:schemeClr val="bg1">
                    <a:lumMod val="9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15,748 Charité Papers (2020-2023)</a:t>
              </a:r>
              <a:endParaRPr lang="de-DE" sz="140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C44CFEE-44A3-463A-B397-18E4801C7FA1}"/>
                </a:ext>
              </a:extLst>
            </p:cNvPr>
            <p:cNvCxnSpPr>
              <a:stCxn id="37" idx="3"/>
              <a:endCxn id="11" idx="1"/>
            </p:cNvCxnSpPr>
            <p:nvPr/>
          </p:nvCxnSpPr>
          <p:spPr>
            <a:xfrm>
              <a:off x="2750217" y="5295253"/>
              <a:ext cx="1314937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C5BEB27-C360-4D58-8AE3-C08092988058}"/>
                </a:ext>
              </a:extLst>
            </p:cNvPr>
            <p:cNvCxnSpPr>
              <a:cxnSpLocks/>
              <a:stCxn id="38" idx="3"/>
              <a:endCxn id="13" idx="1"/>
            </p:cNvCxnSpPr>
            <p:nvPr/>
          </p:nvCxnSpPr>
          <p:spPr>
            <a:xfrm>
              <a:off x="2757715" y="7310305"/>
              <a:ext cx="1307458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ED85551-9A16-4CFB-B3E1-92401FDE4558}"/>
                </a:ext>
              </a:extLst>
            </p:cNvPr>
            <p:cNvSpPr/>
            <p:nvPr/>
          </p:nvSpPr>
          <p:spPr>
            <a:xfrm>
              <a:off x="2913820" y="5063018"/>
              <a:ext cx="1041839" cy="461088"/>
            </a:xfrm>
            <a:prstGeom prst="rect">
              <a:avLst/>
            </a:prstGeom>
            <a:ln>
              <a:noFill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62</a:t>
              </a:r>
            </a:p>
            <a:p>
              <a:pPr algn="ctr">
                <a:lnSpc>
                  <a:spcPts val="1500"/>
                </a:lnSpc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Overlapping</a:t>
              </a:r>
              <a:endParaRPr lang="de-DE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CC2D1C-CC06-4BB5-A6EA-12AC3E06A1F1}"/>
                </a:ext>
              </a:extLst>
            </p:cNvPr>
            <p:cNvSpPr/>
            <p:nvPr/>
          </p:nvSpPr>
          <p:spPr>
            <a:xfrm>
              <a:off x="2906456" y="7084130"/>
              <a:ext cx="1033011" cy="4610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325</a:t>
              </a:r>
            </a:p>
            <a:p>
              <a:pPr algn="ctr">
                <a:lnSpc>
                  <a:spcPts val="1500"/>
                </a:lnSpc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Overlapping</a:t>
              </a:r>
              <a:endParaRPr lang="de-DE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10F5922-3CDA-4585-8326-9CB45756D445}"/>
                </a:ext>
              </a:extLst>
            </p:cNvPr>
            <p:cNvCxnSpPr>
              <a:cxnSpLocks/>
              <a:stCxn id="2" idx="2"/>
              <a:endCxn id="89" idx="0"/>
            </p:cNvCxnSpPr>
            <p:nvPr/>
          </p:nvCxnSpPr>
          <p:spPr>
            <a:xfrm flipH="1">
              <a:off x="4557867" y="2531261"/>
              <a:ext cx="3" cy="324974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6A5693A-EED4-4551-9CD6-0153B32A6EF7}"/>
                </a:ext>
              </a:extLst>
            </p:cNvPr>
            <p:cNvSpPr/>
            <p:nvPr/>
          </p:nvSpPr>
          <p:spPr>
            <a:xfrm>
              <a:off x="3709079" y="2007784"/>
              <a:ext cx="1697581" cy="5234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de-DE" sz="1401" dirty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ODDPub</a:t>
              </a:r>
              <a:r>
                <a:rPr lang="de-DE" sz="1401" dirty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</a:rPr>
                <a:t> and</a:t>
              </a:r>
            </a:p>
            <a:p>
              <a:pPr algn="ctr"/>
              <a:r>
                <a:rPr lang="de-DE" sz="1401" dirty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</a:rPr>
                <a:t>Manual Verification</a:t>
              </a:r>
              <a:endParaRPr lang="de-DE" sz="140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38E50F4-3EB6-4472-AB36-428E5FC342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7866" y="1405801"/>
              <a:ext cx="2239" cy="64686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F7B5AA1-6411-4DB4-BA6B-6917164AE427}"/>
                </a:ext>
              </a:extLst>
            </p:cNvPr>
            <p:cNvCxnSpPr>
              <a:cxnSpLocks/>
              <a:stCxn id="46" idx="2"/>
              <a:endCxn id="37" idx="0"/>
            </p:cNvCxnSpPr>
            <p:nvPr/>
          </p:nvCxnSpPr>
          <p:spPr>
            <a:xfrm>
              <a:off x="2271911" y="2405360"/>
              <a:ext cx="0" cy="2683585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436A577-EB67-4219-929E-242465663E95}"/>
                </a:ext>
              </a:extLst>
            </p:cNvPr>
            <p:cNvSpPr/>
            <p:nvPr/>
          </p:nvSpPr>
          <p:spPr>
            <a:xfrm>
              <a:off x="1830925" y="2097455"/>
              <a:ext cx="881972" cy="3079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de-DE" sz="1401" dirty="0">
                  <a:solidFill>
                    <a:schemeClr val="accent5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DataStet</a:t>
              </a:r>
              <a:endParaRPr lang="de-DE" sz="140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6F92F92-9331-477A-8B37-F8DE7AC571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73693" y="1405802"/>
              <a:ext cx="1" cy="6916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0736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56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Cohen, Avihay</dc:creator>
  <cp:lastModifiedBy>Cohen, Avihay</cp:lastModifiedBy>
  <cp:revision>38</cp:revision>
  <dcterms:created xsi:type="dcterms:W3CDTF">2025-10-15T05:19:59Z</dcterms:created>
  <dcterms:modified xsi:type="dcterms:W3CDTF">2026-03-25T15:00:38Z</dcterms:modified>
</cp:coreProperties>
</file>