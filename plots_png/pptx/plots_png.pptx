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6" r:id="rId3"/>
  </p:sldIdLst>
  <p:sldSz cx="80470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D4FF"/>
    <a:srgbClr val="93FF81"/>
    <a:srgbClr val="D9FFDD"/>
    <a:srgbClr val="B7FFAB"/>
    <a:srgbClr val="D8F6E3"/>
    <a:srgbClr val="2CF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738" y="-1104"/>
      </p:cViewPr>
      <p:guideLst>
        <p:guide orient="horz" pos="3840"/>
        <p:guide pos="253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28" y="1995312"/>
            <a:ext cx="6839982" cy="4244622"/>
          </a:xfrm>
        </p:spPr>
        <p:txBody>
          <a:bodyPr anchor="b"/>
          <a:lstStyle>
            <a:lvl1pPr algn="ctr"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881" y="6403625"/>
            <a:ext cx="6035279" cy="2943577"/>
          </a:xfrm>
        </p:spPr>
        <p:txBody>
          <a:bodyPr/>
          <a:lstStyle>
            <a:lvl1pPr marL="0" indent="0" algn="ctr">
              <a:buNone/>
              <a:defRPr sz="2112"/>
            </a:lvl1pPr>
            <a:lvl2pPr marL="402360" indent="0" algn="ctr">
              <a:buNone/>
              <a:defRPr sz="1760"/>
            </a:lvl2pPr>
            <a:lvl3pPr marL="804720" indent="0" algn="ctr">
              <a:buNone/>
              <a:defRPr sz="1584"/>
            </a:lvl3pPr>
            <a:lvl4pPr marL="1207080" indent="0" algn="ctr">
              <a:buNone/>
              <a:defRPr sz="1408"/>
            </a:lvl4pPr>
            <a:lvl5pPr marL="1609440" indent="0" algn="ctr">
              <a:buNone/>
              <a:defRPr sz="1408"/>
            </a:lvl5pPr>
            <a:lvl6pPr marL="2011800" indent="0" algn="ctr">
              <a:buNone/>
              <a:defRPr sz="1408"/>
            </a:lvl6pPr>
            <a:lvl7pPr marL="2414160" indent="0" algn="ctr">
              <a:buNone/>
              <a:defRPr sz="1408"/>
            </a:lvl7pPr>
            <a:lvl8pPr marL="2816519" indent="0" algn="ctr">
              <a:buNone/>
              <a:defRPr sz="1408"/>
            </a:lvl8pPr>
            <a:lvl9pPr marL="3218879" indent="0" algn="ctr">
              <a:buNone/>
              <a:defRPr sz="14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912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43" y="3039537"/>
            <a:ext cx="6940570" cy="5071532"/>
          </a:xfrm>
        </p:spPr>
        <p:txBody>
          <a:bodyPr anchor="b"/>
          <a:lstStyle>
            <a:lvl1pPr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043" y="8159050"/>
            <a:ext cx="6940570" cy="2666999"/>
          </a:xfrm>
        </p:spPr>
        <p:txBody>
          <a:bodyPr/>
          <a:lstStyle>
            <a:lvl1pPr marL="0" indent="0">
              <a:buNone/>
              <a:defRPr sz="2112">
                <a:solidFill>
                  <a:schemeClr val="tx1"/>
                </a:solidFill>
              </a:defRPr>
            </a:lvl1pPr>
            <a:lvl2pPr marL="402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2pPr>
            <a:lvl3pPr marL="804720" indent="0">
              <a:buNone/>
              <a:defRPr sz="1584">
                <a:solidFill>
                  <a:schemeClr val="tx1">
                    <a:tint val="75000"/>
                  </a:schemeClr>
                </a:solidFill>
              </a:defRPr>
            </a:lvl3pPr>
            <a:lvl4pPr marL="1207080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4pPr>
            <a:lvl5pPr marL="1609440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5pPr>
            <a:lvl6pPr marL="2011800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6pPr>
            <a:lvl7pPr marL="2414160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7pPr>
            <a:lvl8pPr marL="2816519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8pPr>
            <a:lvl9pPr marL="3218879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22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235" y="3245556"/>
            <a:ext cx="3419991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814" y="3245556"/>
            <a:ext cx="3419991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64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649114"/>
            <a:ext cx="694057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283" y="2988734"/>
            <a:ext cx="3404274" cy="1464732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60" indent="0">
              <a:buNone/>
              <a:defRPr sz="1760" b="1"/>
            </a:lvl2pPr>
            <a:lvl3pPr marL="804720" indent="0">
              <a:buNone/>
              <a:defRPr sz="1584" b="1"/>
            </a:lvl3pPr>
            <a:lvl4pPr marL="1207080" indent="0">
              <a:buNone/>
              <a:defRPr sz="1408" b="1"/>
            </a:lvl4pPr>
            <a:lvl5pPr marL="1609440" indent="0">
              <a:buNone/>
              <a:defRPr sz="1408" b="1"/>
            </a:lvl5pPr>
            <a:lvl6pPr marL="2011800" indent="0">
              <a:buNone/>
              <a:defRPr sz="1408" b="1"/>
            </a:lvl6pPr>
            <a:lvl7pPr marL="2414160" indent="0">
              <a:buNone/>
              <a:defRPr sz="1408" b="1"/>
            </a:lvl7pPr>
            <a:lvl8pPr marL="2816519" indent="0">
              <a:buNone/>
              <a:defRPr sz="1408" b="1"/>
            </a:lvl8pPr>
            <a:lvl9pPr marL="3218879" indent="0">
              <a:buNone/>
              <a:defRPr sz="14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4283" y="4453469"/>
            <a:ext cx="3404274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73815" y="2988734"/>
            <a:ext cx="3421039" cy="1464732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60" indent="0">
              <a:buNone/>
              <a:defRPr sz="1760" b="1"/>
            </a:lvl2pPr>
            <a:lvl3pPr marL="804720" indent="0">
              <a:buNone/>
              <a:defRPr sz="1584" b="1"/>
            </a:lvl3pPr>
            <a:lvl4pPr marL="1207080" indent="0">
              <a:buNone/>
              <a:defRPr sz="1408" b="1"/>
            </a:lvl4pPr>
            <a:lvl5pPr marL="1609440" indent="0">
              <a:buNone/>
              <a:defRPr sz="1408" b="1"/>
            </a:lvl5pPr>
            <a:lvl6pPr marL="2011800" indent="0">
              <a:buNone/>
              <a:defRPr sz="1408" b="1"/>
            </a:lvl6pPr>
            <a:lvl7pPr marL="2414160" indent="0">
              <a:buNone/>
              <a:defRPr sz="1408" b="1"/>
            </a:lvl7pPr>
            <a:lvl8pPr marL="2816519" indent="0">
              <a:buNone/>
              <a:defRPr sz="1408" b="1"/>
            </a:lvl8pPr>
            <a:lvl9pPr marL="3218879" indent="0">
              <a:buNone/>
              <a:defRPr sz="140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73815" y="4453469"/>
            <a:ext cx="3421039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89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73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08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3" y="812800"/>
            <a:ext cx="2595379" cy="2844800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40" y="1755425"/>
            <a:ext cx="4073813" cy="8664222"/>
          </a:xfrm>
        </p:spPr>
        <p:txBody>
          <a:bodyPr/>
          <a:lstStyle>
            <a:lvl1pPr>
              <a:defRPr sz="2816"/>
            </a:lvl1pPr>
            <a:lvl2pPr>
              <a:defRPr sz="2464"/>
            </a:lvl2pPr>
            <a:lvl3pPr>
              <a:defRPr sz="2112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3" y="3657600"/>
            <a:ext cx="2595379" cy="6776156"/>
          </a:xfrm>
        </p:spPr>
        <p:txBody>
          <a:bodyPr/>
          <a:lstStyle>
            <a:lvl1pPr marL="0" indent="0">
              <a:buNone/>
              <a:defRPr sz="1408"/>
            </a:lvl1pPr>
            <a:lvl2pPr marL="402360" indent="0">
              <a:buNone/>
              <a:defRPr sz="1232"/>
            </a:lvl2pPr>
            <a:lvl3pPr marL="804720" indent="0">
              <a:buNone/>
              <a:defRPr sz="1056"/>
            </a:lvl3pPr>
            <a:lvl4pPr marL="1207080" indent="0">
              <a:buNone/>
              <a:defRPr sz="880"/>
            </a:lvl4pPr>
            <a:lvl5pPr marL="1609440" indent="0">
              <a:buNone/>
              <a:defRPr sz="880"/>
            </a:lvl5pPr>
            <a:lvl6pPr marL="2011800" indent="0">
              <a:buNone/>
              <a:defRPr sz="880"/>
            </a:lvl6pPr>
            <a:lvl7pPr marL="2414160" indent="0">
              <a:buNone/>
              <a:defRPr sz="880"/>
            </a:lvl7pPr>
            <a:lvl8pPr marL="2816519" indent="0">
              <a:buNone/>
              <a:defRPr sz="880"/>
            </a:lvl8pPr>
            <a:lvl9pPr marL="3218879" indent="0">
              <a:buNone/>
              <a:defRPr sz="8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50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3" y="812800"/>
            <a:ext cx="2595379" cy="2844800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21040" y="1755425"/>
            <a:ext cx="4073813" cy="8664222"/>
          </a:xfrm>
        </p:spPr>
        <p:txBody>
          <a:bodyPr anchor="t"/>
          <a:lstStyle>
            <a:lvl1pPr marL="0" indent="0">
              <a:buNone/>
              <a:defRPr sz="2816"/>
            </a:lvl1pPr>
            <a:lvl2pPr marL="402360" indent="0">
              <a:buNone/>
              <a:defRPr sz="2464"/>
            </a:lvl2pPr>
            <a:lvl3pPr marL="804720" indent="0">
              <a:buNone/>
              <a:defRPr sz="2112"/>
            </a:lvl3pPr>
            <a:lvl4pPr marL="1207080" indent="0">
              <a:buNone/>
              <a:defRPr sz="1760"/>
            </a:lvl4pPr>
            <a:lvl5pPr marL="1609440" indent="0">
              <a:buNone/>
              <a:defRPr sz="1760"/>
            </a:lvl5pPr>
            <a:lvl6pPr marL="2011800" indent="0">
              <a:buNone/>
              <a:defRPr sz="1760"/>
            </a:lvl6pPr>
            <a:lvl7pPr marL="2414160" indent="0">
              <a:buNone/>
              <a:defRPr sz="1760"/>
            </a:lvl7pPr>
            <a:lvl8pPr marL="2816519" indent="0">
              <a:buNone/>
              <a:defRPr sz="1760"/>
            </a:lvl8pPr>
            <a:lvl9pPr marL="3218879" indent="0">
              <a:buNone/>
              <a:defRPr sz="1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3" y="3657600"/>
            <a:ext cx="2595379" cy="6776156"/>
          </a:xfrm>
        </p:spPr>
        <p:txBody>
          <a:bodyPr/>
          <a:lstStyle>
            <a:lvl1pPr marL="0" indent="0">
              <a:buNone/>
              <a:defRPr sz="1408"/>
            </a:lvl1pPr>
            <a:lvl2pPr marL="402360" indent="0">
              <a:buNone/>
              <a:defRPr sz="1232"/>
            </a:lvl2pPr>
            <a:lvl3pPr marL="804720" indent="0">
              <a:buNone/>
              <a:defRPr sz="1056"/>
            </a:lvl3pPr>
            <a:lvl4pPr marL="1207080" indent="0">
              <a:buNone/>
              <a:defRPr sz="880"/>
            </a:lvl4pPr>
            <a:lvl5pPr marL="1609440" indent="0">
              <a:buNone/>
              <a:defRPr sz="880"/>
            </a:lvl5pPr>
            <a:lvl6pPr marL="2011800" indent="0">
              <a:buNone/>
              <a:defRPr sz="880"/>
            </a:lvl6pPr>
            <a:lvl7pPr marL="2414160" indent="0">
              <a:buNone/>
              <a:defRPr sz="880"/>
            </a:lvl7pPr>
            <a:lvl8pPr marL="2816519" indent="0">
              <a:buNone/>
              <a:defRPr sz="880"/>
            </a:lvl8pPr>
            <a:lvl9pPr marL="3218879" indent="0">
              <a:buNone/>
              <a:defRPr sz="8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43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22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58663" y="649111"/>
            <a:ext cx="1735143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234" y="649111"/>
            <a:ext cx="5104840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64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3234" y="649114"/>
            <a:ext cx="694057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234" y="3245556"/>
            <a:ext cx="694057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3234" y="11300183"/>
            <a:ext cx="181058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14EEA-DE26-4810-8E05-A65F0010FADE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5583" y="11300183"/>
            <a:ext cx="27158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83220" y="11300183"/>
            <a:ext cx="181058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896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04720" rtl="0" eaLnBrk="1" latinLnBrk="0" hangingPunct="1">
        <a:lnSpc>
          <a:spcPct val="90000"/>
        </a:lnSpc>
        <a:spcBef>
          <a:spcPct val="0"/>
        </a:spcBef>
        <a:buNone/>
        <a:defRPr sz="38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180" indent="-201180" algn="l" defTabSz="804720" rtl="0" eaLnBrk="1" latinLnBrk="0" hangingPunct="1">
        <a:lnSpc>
          <a:spcPct val="90000"/>
        </a:lnSpc>
        <a:spcBef>
          <a:spcPts val="880"/>
        </a:spcBef>
        <a:buFont typeface="Arial" panose="020B0604020202020204" pitchFamily="34" charset="0"/>
        <a:buChar char="•"/>
        <a:defRPr sz="2464" kern="1200">
          <a:solidFill>
            <a:schemeClr val="tx1"/>
          </a:solidFill>
          <a:latin typeface="+mn-lt"/>
          <a:ea typeface="+mn-ea"/>
          <a:cs typeface="+mn-cs"/>
        </a:defRPr>
      </a:lvl1pPr>
      <a:lvl2pPr marL="60354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2pPr>
      <a:lvl3pPr marL="100590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40826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81062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21298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615340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3017699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420059" indent="-201180" algn="l" defTabSz="804720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1pPr>
      <a:lvl2pPr marL="40236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2pPr>
      <a:lvl3pPr marL="80472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3pPr>
      <a:lvl4pPr marL="120708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60944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01180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414160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2816519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218879" algn="l" defTabSz="804720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1A589E-DD35-441D-ABDA-37D4F20F0379}"/>
              </a:ext>
            </a:extLst>
          </p:cNvPr>
          <p:cNvSpPr/>
          <p:nvPr/>
        </p:nvSpPr>
        <p:spPr>
          <a:xfrm>
            <a:off x="4065153" y="4009166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FCE5D6"/>
              </a:gs>
              <a:gs pos="68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2385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5322F6-77E8-48C4-B056-50F80F699609}"/>
              </a:ext>
            </a:extLst>
          </p:cNvPr>
          <p:cNvSpPr/>
          <p:nvPr/>
        </p:nvSpPr>
        <p:spPr>
          <a:xfrm>
            <a:off x="4065153" y="5088945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FCE5D6"/>
              </a:gs>
              <a:gs pos="68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118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F9B437-0D9F-43EC-AE11-4D38AB16DEF0}"/>
              </a:ext>
            </a:extLst>
          </p:cNvPr>
          <p:cNvSpPr/>
          <p:nvPr/>
        </p:nvSpPr>
        <p:spPr>
          <a:xfrm>
            <a:off x="4065173" y="7103997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FCE5D6"/>
              </a:gs>
              <a:gs pos="68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1032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C13C7B-2E0E-4FF4-AB33-135574BA2A7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4562344" y="4421780"/>
            <a:ext cx="0" cy="66716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8AA32-5E69-499A-A2CB-589D567F8FD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4562345" y="5501561"/>
            <a:ext cx="20" cy="160243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95B561F-3DB8-42CB-9CBC-038948D310CA}"/>
              </a:ext>
            </a:extLst>
          </p:cNvPr>
          <p:cNvSpPr/>
          <p:nvPr/>
        </p:nvSpPr>
        <p:spPr>
          <a:xfrm>
            <a:off x="5040651" y="3976290"/>
            <a:ext cx="1841042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Restricted-Access</a:t>
            </a:r>
          </a:p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and Open Datasets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72B207-7A8B-4402-9F52-285DC1B0BBA2}"/>
              </a:ext>
            </a:extLst>
          </p:cNvPr>
          <p:cNvSpPr/>
          <p:nvPr/>
        </p:nvSpPr>
        <p:spPr>
          <a:xfrm>
            <a:off x="5063715" y="5042446"/>
            <a:ext cx="994363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Mentioned</a:t>
            </a:r>
          </a:p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19C2CA-81E4-44C0-8AA4-173BAF7F34BD}"/>
              </a:ext>
            </a:extLst>
          </p:cNvPr>
          <p:cNvSpPr/>
          <p:nvPr/>
        </p:nvSpPr>
        <p:spPr>
          <a:xfrm>
            <a:off x="5063715" y="7051395"/>
            <a:ext cx="1105044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Mentions</a:t>
            </a:r>
          </a:p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of Datasets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7BA3527-87EC-4319-9AE6-9AF455FE0676}"/>
              </a:ext>
            </a:extLst>
          </p:cNvPr>
          <p:cNvSpPr/>
          <p:nvPr/>
        </p:nvSpPr>
        <p:spPr>
          <a:xfrm>
            <a:off x="1793604" y="5088945"/>
            <a:ext cx="956613" cy="412615"/>
          </a:xfrm>
          <a:prstGeom prst="roundRect">
            <a:avLst/>
          </a:prstGeom>
          <a:gradFill flip="none" rotWithShape="1">
            <a:gsLst>
              <a:gs pos="84000">
                <a:schemeClr val="accent1">
                  <a:lumMod val="20000"/>
                  <a:lumOff val="80000"/>
                </a:schemeClr>
              </a:gs>
              <a:gs pos="68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119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B34D7AD-5FA7-4F4B-A347-F882B053B048}"/>
              </a:ext>
            </a:extLst>
          </p:cNvPr>
          <p:cNvSpPr/>
          <p:nvPr/>
        </p:nvSpPr>
        <p:spPr>
          <a:xfrm>
            <a:off x="1793623" y="7103997"/>
            <a:ext cx="964092" cy="412615"/>
          </a:xfrm>
          <a:prstGeom prst="roundRect">
            <a:avLst/>
          </a:prstGeom>
          <a:gradFill flip="none" rotWithShape="1">
            <a:gsLst>
              <a:gs pos="84000">
                <a:schemeClr val="accent1">
                  <a:lumMod val="20000"/>
                  <a:lumOff val="80000"/>
                </a:schemeClr>
              </a:gs>
              <a:gs pos="68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790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692EBCE-E7C8-498F-9B66-D28428C38FE7}"/>
              </a:ext>
            </a:extLst>
          </p:cNvPr>
          <p:cNvSpPr/>
          <p:nvPr/>
        </p:nvSpPr>
        <p:spPr>
          <a:xfrm>
            <a:off x="2933200" y="8137041"/>
            <a:ext cx="956613" cy="412615"/>
          </a:xfrm>
          <a:prstGeom prst="roundRect">
            <a:avLst/>
          </a:prstGeom>
          <a:gradFill flip="none" rotWithShape="1">
            <a:gsLst>
              <a:gs pos="84000">
                <a:srgbClr val="D8F6E3"/>
              </a:gs>
              <a:gs pos="65000">
                <a:srgbClr val="93FF81"/>
              </a:gs>
              <a:gs pos="100000">
                <a:srgbClr val="D9FFDD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1497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A59E55-1123-41CF-9FF3-F2082F8B3C5D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2271909" y="5501561"/>
            <a:ext cx="3760" cy="160243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C8CB980-D4CC-4B64-97C7-0DACD7E52C16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2275670" y="7516612"/>
            <a:ext cx="1135837" cy="6204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6500A19-34AF-481D-90E9-7A15CD95C98D}"/>
              </a:ext>
            </a:extLst>
          </p:cNvPr>
          <p:cNvSpPr/>
          <p:nvPr/>
        </p:nvSpPr>
        <p:spPr>
          <a:xfrm>
            <a:off x="683797" y="5042446"/>
            <a:ext cx="1066474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Mentioned</a:t>
            </a:r>
          </a:p>
          <a:p>
            <a:pPr algn="r"/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D7A0D1F-7F9E-42B5-9084-1E0CD2E1F859}"/>
              </a:ext>
            </a:extLst>
          </p:cNvPr>
          <p:cNvSpPr/>
          <p:nvPr/>
        </p:nvSpPr>
        <p:spPr>
          <a:xfrm>
            <a:off x="685201" y="7051393"/>
            <a:ext cx="1066474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Mentions</a:t>
            </a:r>
          </a:p>
          <a:p>
            <a:pPr algn="r"/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of Datasets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FBE4FCF-8599-453D-ACF1-7A4330EE1F2C}"/>
              </a:ext>
            </a:extLst>
          </p:cNvPr>
          <p:cNvCxnSpPr>
            <a:cxnSpLocks/>
            <a:stCxn id="13" idx="2"/>
            <a:endCxn id="39" idx="0"/>
          </p:cNvCxnSpPr>
          <p:nvPr/>
        </p:nvCxnSpPr>
        <p:spPr>
          <a:xfrm flipH="1">
            <a:off x="3411507" y="7516612"/>
            <a:ext cx="1150859" cy="62042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668D4145-09E9-49E0-ADC6-0FAF2836A917}"/>
              </a:ext>
            </a:extLst>
          </p:cNvPr>
          <p:cNvSpPr/>
          <p:nvPr/>
        </p:nvSpPr>
        <p:spPr>
          <a:xfrm>
            <a:off x="2117258" y="8590668"/>
            <a:ext cx="2634960" cy="949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Mentions of Datasets</a:t>
            </a:r>
          </a:p>
          <a:p>
            <a:pPr algn="ctr">
              <a:lnSpc>
                <a:spcPct val="150000"/>
              </a:lnSpc>
            </a:pPr>
            <a:r>
              <a:rPr lang="en-US" sz="129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in 134 Charité Papers</a:t>
            </a:r>
            <a:endParaRPr lang="de-DE" sz="129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29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Reused by 1390 Papers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46E5E13-378B-484F-A381-094CCFBA2949}"/>
              </a:ext>
            </a:extLst>
          </p:cNvPr>
          <p:cNvCxnSpPr>
            <a:cxnSpLocks/>
            <a:stCxn id="89" idx="2"/>
            <a:endCxn id="9" idx="0"/>
          </p:cNvCxnSpPr>
          <p:nvPr/>
        </p:nvCxnSpPr>
        <p:spPr>
          <a:xfrm>
            <a:off x="4557867" y="3268850"/>
            <a:ext cx="4478" cy="7403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114DA72-2DDC-49FF-88D2-5DA57C7BF46C}"/>
              </a:ext>
            </a:extLst>
          </p:cNvPr>
          <p:cNvSpPr/>
          <p:nvPr/>
        </p:nvSpPr>
        <p:spPr>
          <a:xfrm>
            <a:off x="2963761" y="6027801"/>
            <a:ext cx="956613" cy="412615"/>
          </a:xfrm>
          <a:prstGeom prst="roundRect">
            <a:avLst/>
          </a:prstGeom>
          <a:gradFill flip="none" rotWithShape="1">
            <a:gsLst>
              <a:gs pos="84000">
                <a:srgbClr val="D8F6E3"/>
              </a:gs>
              <a:gs pos="65000">
                <a:srgbClr val="93FF81"/>
              </a:gs>
              <a:gs pos="100000">
                <a:srgbClr val="D9FFDD"/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175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EBAAEA7-28FC-4C4C-85C6-F295E82C619C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2424329" y="5515238"/>
            <a:ext cx="1017738" cy="51256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FAE4691-A331-4DBF-B116-0C1888F2171E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3442068" y="5515238"/>
            <a:ext cx="975517" cy="51256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B2BD9BD0-063F-41F0-AF7A-83DA5949A806}"/>
              </a:ext>
            </a:extLst>
          </p:cNvPr>
          <p:cNvSpPr/>
          <p:nvPr/>
        </p:nvSpPr>
        <p:spPr>
          <a:xfrm>
            <a:off x="2436223" y="6474051"/>
            <a:ext cx="1965542" cy="290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Detected Datasets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E036A8D5-381A-49F8-A9E1-4091609F5EF9}"/>
              </a:ext>
            </a:extLst>
          </p:cNvPr>
          <p:cNvSpPr/>
          <p:nvPr/>
        </p:nvSpPr>
        <p:spPr>
          <a:xfrm>
            <a:off x="4060675" y="2856235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FCE5D6"/>
              </a:gs>
              <a:gs pos="68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1583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5DFAD21-E790-4E44-A833-74531D5D852B}"/>
              </a:ext>
            </a:extLst>
          </p:cNvPr>
          <p:cNvSpPr/>
          <p:nvPr/>
        </p:nvSpPr>
        <p:spPr>
          <a:xfrm>
            <a:off x="5055058" y="2836118"/>
            <a:ext cx="1954792" cy="489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Charité Papers with Shared Datasets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F56F1E4-3546-4BA0-88CD-F399B7C26180}"/>
              </a:ext>
            </a:extLst>
          </p:cNvPr>
          <p:cNvSpPr/>
          <p:nvPr/>
        </p:nvSpPr>
        <p:spPr>
          <a:xfrm>
            <a:off x="1726516" y="835071"/>
            <a:ext cx="3384956" cy="412615"/>
          </a:xfrm>
          <a:prstGeom prst="roundRect">
            <a:avLst/>
          </a:prstGeom>
          <a:gradFill flip="none" rotWithShape="1">
            <a:gsLst>
              <a:gs pos="69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15748 Charité Papers (2020-2023)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C44CFEE-44A3-463A-B397-18E4801C7FA1}"/>
              </a:ext>
            </a:extLst>
          </p:cNvPr>
          <p:cNvCxnSpPr>
            <a:stCxn id="37" idx="3"/>
            <a:endCxn id="11" idx="1"/>
          </p:cNvCxnSpPr>
          <p:nvPr/>
        </p:nvCxnSpPr>
        <p:spPr>
          <a:xfrm>
            <a:off x="2750217" y="5295253"/>
            <a:ext cx="131493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5BEB27-C360-4D58-8AE3-C08092988058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>
            <a:off x="2757715" y="7310305"/>
            <a:ext cx="1307458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ED85551-9A16-4CFB-B3E1-92401FDE4558}"/>
              </a:ext>
            </a:extLst>
          </p:cNvPr>
          <p:cNvSpPr/>
          <p:nvPr/>
        </p:nvSpPr>
        <p:spPr>
          <a:xfrm>
            <a:off x="2913819" y="5063018"/>
            <a:ext cx="1041839" cy="461088"/>
          </a:xfrm>
          <a:prstGeom prst="rect">
            <a:avLst/>
          </a:prstGeom>
          <a:ln>
            <a:noFill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</a:t>
            </a:r>
          </a:p>
          <a:p>
            <a:pPr algn="ctr">
              <a:lnSpc>
                <a:spcPts val="15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Overlapping</a:t>
            </a:r>
            <a:endParaRPr lang="de-DE" sz="11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CC2D1C-CC06-4BB5-A6EA-12AC3E06A1F1}"/>
              </a:ext>
            </a:extLst>
          </p:cNvPr>
          <p:cNvSpPr/>
          <p:nvPr/>
        </p:nvSpPr>
        <p:spPr>
          <a:xfrm>
            <a:off x="2906455" y="7084130"/>
            <a:ext cx="1033011" cy="461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325</a:t>
            </a:r>
          </a:p>
          <a:p>
            <a:pPr algn="ctr">
              <a:lnSpc>
                <a:spcPts val="1500"/>
              </a:lnSpc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Overlapping</a:t>
            </a:r>
            <a:endParaRPr lang="de-DE" sz="11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0F5922-3CDA-4585-8326-9CB45756D445}"/>
              </a:ext>
            </a:extLst>
          </p:cNvPr>
          <p:cNvCxnSpPr>
            <a:cxnSpLocks/>
            <a:stCxn id="2" idx="2"/>
            <a:endCxn id="89" idx="0"/>
          </p:cNvCxnSpPr>
          <p:nvPr/>
        </p:nvCxnSpPr>
        <p:spPr>
          <a:xfrm>
            <a:off x="4557867" y="2531004"/>
            <a:ext cx="0" cy="32523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6A5693A-EED4-4551-9CD6-0153B32A6EF7}"/>
              </a:ext>
            </a:extLst>
          </p:cNvPr>
          <p:cNvSpPr/>
          <p:nvPr/>
        </p:nvSpPr>
        <p:spPr>
          <a:xfrm>
            <a:off x="3709045" y="2007784"/>
            <a:ext cx="1697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ODDPub</a:t>
            </a:r>
            <a:r>
              <a:rPr lang="de-DE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and</a:t>
            </a:r>
          </a:p>
          <a:p>
            <a:pPr algn="ctr"/>
            <a:r>
              <a:rPr lang="de-DE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Manual Verification</a:t>
            </a:r>
            <a:endParaRPr lang="de-DE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8E50F4-3EB6-4472-AB36-428E5FC342AB}"/>
              </a:ext>
            </a:extLst>
          </p:cNvPr>
          <p:cNvCxnSpPr>
            <a:cxnSpLocks/>
          </p:cNvCxnSpPr>
          <p:nvPr/>
        </p:nvCxnSpPr>
        <p:spPr>
          <a:xfrm flipH="1" flipV="1">
            <a:off x="4557866" y="1405801"/>
            <a:ext cx="2239" cy="6468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7B5AA1-6411-4DB4-BA6B-6917164AE427}"/>
              </a:ext>
            </a:extLst>
          </p:cNvPr>
          <p:cNvCxnSpPr>
            <a:cxnSpLocks/>
            <a:stCxn id="46" idx="2"/>
            <a:endCxn id="37" idx="0"/>
          </p:cNvCxnSpPr>
          <p:nvPr/>
        </p:nvCxnSpPr>
        <p:spPr>
          <a:xfrm>
            <a:off x="2271910" y="2405232"/>
            <a:ext cx="1" cy="268371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436A577-EB67-4219-929E-242465663E95}"/>
              </a:ext>
            </a:extLst>
          </p:cNvPr>
          <p:cNvSpPr/>
          <p:nvPr/>
        </p:nvSpPr>
        <p:spPr>
          <a:xfrm>
            <a:off x="1830923" y="2097455"/>
            <a:ext cx="881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DataStet</a:t>
            </a:r>
            <a:endParaRPr lang="de-DE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6F92F92-9331-477A-8B37-F8DE7AC5719E}"/>
              </a:ext>
            </a:extLst>
          </p:cNvPr>
          <p:cNvCxnSpPr>
            <a:cxnSpLocks/>
          </p:cNvCxnSpPr>
          <p:nvPr/>
        </p:nvCxnSpPr>
        <p:spPr>
          <a:xfrm flipH="1" flipV="1">
            <a:off x="2273693" y="1405802"/>
            <a:ext cx="1" cy="6916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73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9FF791-EB9E-4172-8E36-126A1971CBBF}"/>
              </a:ext>
            </a:extLst>
          </p:cNvPr>
          <p:cNvSpPr/>
          <p:nvPr/>
        </p:nvSpPr>
        <p:spPr>
          <a:xfrm>
            <a:off x="5059535" y="3284493"/>
            <a:ext cx="1828113" cy="48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Confirmed Citations</a:t>
            </a:r>
          </a:p>
          <a:p>
            <a:r>
              <a:rPr lang="de-DE" sz="1232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(113 Reusing Papers)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9DB630-BAD7-4C3C-8ABD-E809EE7D6421}"/>
              </a:ext>
            </a:extLst>
          </p:cNvPr>
          <p:cNvSpPr/>
          <p:nvPr/>
        </p:nvSpPr>
        <p:spPr>
          <a:xfrm>
            <a:off x="4065153" y="3330985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75D4FF"/>
              </a:gs>
              <a:gs pos="68000">
                <a:srgbClr val="00B0F0"/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1765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782143D-917A-4630-A7FB-072612AFAFCB}"/>
              </a:ext>
            </a:extLst>
          </p:cNvPr>
          <p:cNvSpPr/>
          <p:nvPr/>
        </p:nvSpPr>
        <p:spPr>
          <a:xfrm>
            <a:off x="4065153" y="4410766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75D4FF"/>
              </a:gs>
              <a:gs pos="68000">
                <a:srgbClr val="00B0F0"/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852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8FEEB8-535C-4F9D-BE06-D60DEC78B11A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4562344" y="3743600"/>
            <a:ext cx="0" cy="66716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8014AD8-AB9C-478D-A1B4-21E726B7E060}"/>
              </a:ext>
            </a:extLst>
          </p:cNvPr>
          <p:cNvSpPr/>
          <p:nvPr/>
        </p:nvSpPr>
        <p:spPr>
          <a:xfrm>
            <a:off x="5050582" y="4463588"/>
            <a:ext cx="1828125" cy="290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Estimated Citations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66615DB-D6CA-4E80-B064-CD8973E779A9}"/>
              </a:ext>
            </a:extLst>
          </p:cNvPr>
          <p:cNvSpPr/>
          <p:nvPr/>
        </p:nvSpPr>
        <p:spPr>
          <a:xfrm>
            <a:off x="4065153" y="2234670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75D4FF"/>
              </a:gs>
              <a:gs pos="68000">
                <a:srgbClr val="00B0F0"/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CB45425-9B7D-49B1-B7E6-6CE84CD5DD4F}"/>
              </a:ext>
            </a:extLst>
          </p:cNvPr>
          <p:cNvCxnSpPr>
            <a:cxnSpLocks/>
            <a:stCxn id="36" idx="2"/>
            <a:endCxn id="32" idx="0"/>
          </p:cNvCxnSpPr>
          <p:nvPr/>
        </p:nvCxnSpPr>
        <p:spPr>
          <a:xfrm>
            <a:off x="4562344" y="2647285"/>
            <a:ext cx="0" cy="68369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93B5009-2567-4219-828C-A2FC4468E2F5}"/>
              </a:ext>
            </a:extLst>
          </p:cNvPr>
          <p:cNvSpPr/>
          <p:nvPr/>
        </p:nvSpPr>
        <p:spPr>
          <a:xfrm>
            <a:off x="5055059" y="2278464"/>
            <a:ext cx="1610547" cy="290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Charité Datasets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4DE513D-2FB1-49B7-A2CE-E030FD9CE2A4}"/>
              </a:ext>
            </a:extLst>
          </p:cNvPr>
          <p:cNvSpPr/>
          <p:nvPr/>
        </p:nvSpPr>
        <p:spPr>
          <a:xfrm>
            <a:off x="4060675" y="1135562"/>
            <a:ext cx="994383" cy="412615"/>
          </a:xfrm>
          <a:prstGeom prst="roundRect">
            <a:avLst/>
          </a:prstGeom>
          <a:gradFill flip="none" rotWithShape="1">
            <a:gsLst>
              <a:gs pos="84000">
                <a:srgbClr val="75D4FF"/>
              </a:gs>
              <a:gs pos="68000">
                <a:srgbClr val="00B0F0"/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de-DE" sz="1408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B4690F-D349-475B-81BF-F2E80E19C269}"/>
              </a:ext>
            </a:extLst>
          </p:cNvPr>
          <p:cNvCxnSpPr>
            <a:cxnSpLocks/>
            <a:stCxn id="39" idx="2"/>
            <a:endCxn id="36" idx="0"/>
          </p:cNvCxnSpPr>
          <p:nvPr/>
        </p:nvCxnSpPr>
        <p:spPr>
          <a:xfrm>
            <a:off x="4557867" y="1548176"/>
            <a:ext cx="4478" cy="68649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FB321C3-1C3C-4DCB-87EF-3C35A20F30A0}"/>
              </a:ext>
            </a:extLst>
          </p:cNvPr>
          <p:cNvSpPr/>
          <p:nvPr/>
        </p:nvSpPr>
        <p:spPr>
          <a:xfrm>
            <a:off x="5050581" y="1179356"/>
            <a:ext cx="1828125" cy="290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91" dirty="0">
                <a:latin typeface="Arial" panose="020B0604020202020204" pitchFamily="34" charset="0"/>
                <a:cs typeface="Arial" panose="020B0604020202020204" pitchFamily="34" charset="0"/>
              </a:rPr>
              <a:t>Charité Data Articles</a:t>
            </a:r>
            <a:endParaRPr lang="de-DE" sz="129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4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Custom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Cohen, Avihay</dc:creator>
  <cp:lastModifiedBy>Cohen, Avihay</cp:lastModifiedBy>
  <cp:revision>31</cp:revision>
  <dcterms:created xsi:type="dcterms:W3CDTF">2025-10-15T05:19:59Z</dcterms:created>
  <dcterms:modified xsi:type="dcterms:W3CDTF">2025-10-28T13:06:08Z</dcterms:modified>
</cp:coreProperties>
</file>