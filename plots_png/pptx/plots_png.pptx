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0" r:id="rId2"/>
    <p:sldId id="256" r:id="rId3"/>
    <p:sldId id="261" r:id="rId4"/>
  </p:sldIdLst>
  <p:sldSz cx="8047038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5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2952" y="84"/>
      </p:cViewPr>
      <p:guideLst>
        <p:guide orient="horz" pos="3840"/>
        <p:guide pos="253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28" y="1995312"/>
            <a:ext cx="6839982" cy="4244622"/>
          </a:xfrm>
        </p:spPr>
        <p:txBody>
          <a:bodyPr anchor="b"/>
          <a:lstStyle>
            <a:lvl1pPr algn="ctr"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05881" y="6403625"/>
            <a:ext cx="6035279" cy="2943577"/>
          </a:xfrm>
        </p:spPr>
        <p:txBody>
          <a:bodyPr/>
          <a:lstStyle>
            <a:lvl1pPr marL="0" indent="0" algn="ctr">
              <a:buNone/>
              <a:defRPr sz="2112"/>
            </a:lvl1pPr>
            <a:lvl2pPr marL="402360" indent="0" algn="ctr">
              <a:buNone/>
              <a:defRPr sz="1760"/>
            </a:lvl2pPr>
            <a:lvl3pPr marL="804720" indent="0" algn="ctr">
              <a:buNone/>
              <a:defRPr sz="1584"/>
            </a:lvl3pPr>
            <a:lvl4pPr marL="1207080" indent="0" algn="ctr">
              <a:buNone/>
              <a:defRPr sz="1408"/>
            </a:lvl4pPr>
            <a:lvl5pPr marL="1609440" indent="0" algn="ctr">
              <a:buNone/>
              <a:defRPr sz="1408"/>
            </a:lvl5pPr>
            <a:lvl6pPr marL="2011800" indent="0" algn="ctr">
              <a:buNone/>
              <a:defRPr sz="1408"/>
            </a:lvl6pPr>
            <a:lvl7pPr marL="2414160" indent="0" algn="ctr">
              <a:buNone/>
              <a:defRPr sz="1408"/>
            </a:lvl7pPr>
            <a:lvl8pPr marL="2816519" indent="0" algn="ctr">
              <a:buNone/>
              <a:defRPr sz="1408"/>
            </a:lvl8pPr>
            <a:lvl9pPr marL="3218879" indent="0" algn="ctr">
              <a:buNone/>
              <a:defRPr sz="14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2912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043" y="3039537"/>
            <a:ext cx="6940570" cy="5071532"/>
          </a:xfrm>
        </p:spPr>
        <p:txBody>
          <a:bodyPr anchor="b"/>
          <a:lstStyle>
            <a:lvl1pPr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043" y="8159050"/>
            <a:ext cx="6940570" cy="2666999"/>
          </a:xfrm>
        </p:spPr>
        <p:txBody>
          <a:bodyPr/>
          <a:lstStyle>
            <a:lvl1pPr marL="0" indent="0">
              <a:buNone/>
              <a:defRPr sz="2112">
                <a:solidFill>
                  <a:schemeClr val="tx1"/>
                </a:solidFill>
              </a:defRPr>
            </a:lvl1pPr>
            <a:lvl2pPr marL="402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804720" indent="0">
              <a:buNone/>
              <a:defRPr sz="1584">
                <a:solidFill>
                  <a:schemeClr val="tx1">
                    <a:tint val="75000"/>
                  </a:schemeClr>
                </a:solidFill>
              </a:defRPr>
            </a:lvl3pPr>
            <a:lvl4pPr marL="120708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4pPr>
            <a:lvl5pPr marL="160944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5pPr>
            <a:lvl6pPr marL="201180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6pPr>
            <a:lvl7pPr marL="241416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7pPr>
            <a:lvl8pPr marL="281651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8pPr>
            <a:lvl9pPr marL="321887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222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3235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814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64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2" y="649114"/>
            <a:ext cx="6940570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4283" y="2988734"/>
            <a:ext cx="3404274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4283" y="4453469"/>
            <a:ext cx="3404274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73815" y="2988734"/>
            <a:ext cx="3421039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73815" y="4453469"/>
            <a:ext cx="3421039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898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738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108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1040" y="1755425"/>
            <a:ext cx="4073813" cy="8664222"/>
          </a:xfrm>
        </p:spPr>
        <p:txBody>
          <a:bodyPr/>
          <a:lstStyle>
            <a:lvl1pPr>
              <a:defRPr sz="2816"/>
            </a:lvl1pPr>
            <a:lvl2pPr>
              <a:defRPr sz="2464"/>
            </a:lvl2pPr>
            <a:lvl3pPr>
              <a:defRPr sz="2112"/>
            </a:lvl3pPr>
            <a:lvl4pPr>
              <a:defRPr sz="1760"/>
            </a:lvl4pPr>
            <a:lvl5pPr>
              <a:defRPr sz="1760"/>
            </a:lvl5pPr>
            <a:lvl6pPr>
              <a:defRPr sz="1760"/>
            </a:lvl6pPr>
            <a:lvl7pPr>
              <a:defRPr sz="1760"/>
            </a:lvl7pPr>
            <a:lvl8pPr>
              <a:defRPr sz="1760"/>
            </a:lvl8pPr>
            <a:lvl9pPr>
              <a:defRPr sz="17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502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421040" y="1755425"/>
            <a:ext cx="4073813" cy="8664222"/>
          </a:xfrm>
        </p:spPr>
        <p:txBody>
          <a:bodyPr anchor="t"/>
          <a:lstStyle>
            <a:lvl1pPr marL="0" indent="0">
              <a:buNone/>
              <a:defRPr sz="2816"/>
            </a:lvl1pPr>
            <a:lvl2pPr marL="402360" indent="0">
              <a:buNone/>
              <a:defRPr sz="2464"/>
            </a:lvl2pPr>
            <a:lvl3pPr marL="804720" indent="0">
              <a:buNone/>
              <a:defRPr sz="2112"/>
            </a:lvl3pPr>
            <a:lvl4pPr marL="1207080" indent="0">
              <a:buNone/>
              <a:defRPr sz="1760"/>
            </a:lvl4pPr>
            <a:lvl5pPr marL="1609440" indent="0">
              <a:buNone/>
              <a:defRPr sz="1760"/>
            </a:lvl5pPr>
            <a:lvl6pPr marL="2011800" indent="0">
              <a:buNone/>
              <a:defRPr sz="1760"/>
            </a:lvl6pPr>
            <a:lvl7pPr marL="2414160" indent="0">
              <a:buNone/>
              <a:defRPr sz="1760"/>
            </a:lvl7pPr>
            <a:lvl8pPr marL="2816519" indent="0">
              <a:buNone/>
              <a:defRPr sz="1760"/>
            </a:lvl8pPr>
            <a:lvl9pPr marL="3218879" indent="0">
              <a:buNone/>
              <a:defRPr sz="17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443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2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58663" y="649111"/>
            <a:ext cx="1735143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3234" y="649111"/>
            <a:ext cx="5104840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864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3234" y="649114"/>
            <a:ext cx="6940570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3234" y="3245556"/>
            <a:ext cx="6940570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3234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23.10.2025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65583" y="11300183"/>
            <a:ext cx="27158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83220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964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804720" rtl="0" eaLnBrk="1" latinLnBrk="0" hangingPunct="1">
        <a:lnSpc>
          <a:spcPct val="90000"/>
        </a:lnSpc>
        <a:spcBef>
          <a:spcPct val="0"/>
        </a:spcBef>
        <a:buNone/>
        <a:defRPr sz="38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1180" indent="-201180" algn="l" defTabSz="804720" rtl="0" eaLnBrk="1" latinLnBrk="0" hangingPunct="1">
        <a:lnSpc>
          <a:spcPct val="90000"/>
        </a:lnSpc>
        <a:spcBef>
          <a:spcPts val="880"/>
        </a:spcBef>
        <a:buFont typeface="Arial" panose="020B0604020202020204" pitchFamily="34" charset="0"/>
        <a:buChar char="•"/>
        <a:defRPr sz="2464" kern="1200">
          <a:solidFill>
            <a:schemeClr val="tx1"/>
          </a:solidFill>
          <a:latin typeface="+mn-lt"/>
          <a:ea typeface="+mn-ea"/>
          <a:cs typeface="+mn-cs"/>
        </a:defRPr>
      </a:lvl1pPr>
      <a:lvl2pPr marL="6035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2112" kern="1200">
          <a:solidFill>
            <a:schemeClr val="tx1"/>
          </a:solidFill>
          <a:latin typeface="+mn-lt"/>
          <a:ea typeface="+mn-ea"/>
          <a:cs typeface="+mn-cs"/>
        </a:defRPr>
      </a:lvl2pPr>
      <a:lvl3pPr marL="100590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3pPr>
      <a:lvl4pPr marL="140826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81062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21298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6153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301769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42005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1pPr>
      <a:lvl2pPr marL="4023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2pPr>
      <a:lvl3pPr marL="80472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3pPr>
      <a:lvl4pPr marL="120708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60944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01180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4141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281651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21887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4065153" y="40091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2385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4065153" y="508894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118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4065173" y="7103997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1032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562344" y="442178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4562345" y="5501561"/>
            <a:ext cx="2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5040651" y="3976290"/>
            <a:ext cx="184104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Restricted-Access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and Open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5063715" y="5042446"/>
            <a:ext cx="994363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5063715" y="7051395"/>
            <a:ext cx="110504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93604" y="5088945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119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93623" y="7103997"/>
            <a:ext cx="964092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790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933200" y="813704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1497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2271909" y="5501561"/>
            <a:ext cx="376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275670" y="7516612"/>
            <a:ext cx="1135837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683797" y="5042446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685201" y="7051393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411507" y="7516612"/>
            <a:ext cx="1150859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117258" y="8590668"/>
            <a:ext cx="2634960" cy="949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ctr">
              <a:lnSpc>
                <a:spcPct val="150000"/>
              </a:lnSpc>
            </a:pPr>
            <a:r>
              <a:rPr lang="en-US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in 134 Charité Papers</a:t>
            </a:r>
            <a:endParaRPr lang="de-DE" sz="129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Reused by 1390 Papers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89" idx="2"/>
            <a:endCxn id="9" idx="0"/>
          </p:cNvCxnSpPr>
          <p:nvPr/>
        </p:nvCxnSpPr>
        <p:spPr>
          <a:xfrm>
            <a:off x="4557867" y="3268850"/>
            <a:ext cx="4478" cy="74031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963761" y="602780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424329" y="5515238"/>
            <a:ext cx="1017738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442068" y="5515238"/>
            <a:ext cx="975517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436223" y="6474051"/>
            <a:ext cx="1965542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4060675" y="285623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1583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5055058" y="2836118"/>
            <a:ext cx="195479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Papers with Shared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F56F1E4-3546-4BA0-88CD-F399B7C26180}"/>
              </a:ext>
            </a:extLst>
          </p:cNvPr>
          <p:cNvSpPr/>
          <p:nvPr/>
        </p:nvSpPr>
        <p:spPr>
          <a:xfrm>
            <a:off x="1726516" y="835071"/>
            <a:ext cx="3384956" cy="412615"/>
          </a:xfrm>
          <a:prstGeom prst="roundRect">
            <a:avLst/>
          </a:prstGeom>
          <a:gradFill flip="none" rotWithShape="1">
            <a:gsLst>
              <a:gs pos="69000">
                <a:schemeClr val="accent2">
                  <a:lumMod val="60000"/>
                  <a:lumOff val="40000"/>
                </a:schemeClr>
              </a:gs>
              <a:gs pos="0">
                <a:schemeClr val="accent2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15748 Charité Papers (2020-2023)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44CFEE-44A3-463A-B397-18E4801C7FA1}"/>
              </a:ext>
            </a:extLst>
          </p:cNvPr>
          <p:cNvCxnSpPr>
            <a:stCxn id="37" idx="3"/>
            <a:endCxn id="11" idx="1"/>
          </p:cNvCxnSpPr>
          <p:nvPr/>
        </p:nvCxnSpPr>
        <p:spPr>
          <a:xfrm>
            <a:off x="2750217" y="5295253"/>
            <a:ext cx="1314937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5BEB27-C360-4D58-8AE3-C08092988058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2757715" y="7310305"/>
            <a:ext cx="1307458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ED85551-9A16-4CFB-B3E1-92401FDE4558}"/>
              </a:ext>
            </a:extLst>
          </p:cNvPr>
          <p:cNvSpPr/>
          <p:nvPr/>
        </p:nvSpPr>
        <p:spPr>
          <a:xfrm>
            <a:off x="2913819" y="5063018"/>
            <a:ext cx="1041839" cy="461088"/>
          </a:xfrm>
          <a:prstGeom prst="rect">
            <a:avLst/>
          </a:prstGeom>
          <a:ln>
            <a:noFill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62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CC2D1C-CC06-4BB5-A6EA-12AC3E06A1F1}"/>
              </a:ext>
            </a:extLst>
          </p:cNvPr>
          <p:cNvSpPr/>
          <p:nvPr/>
        </p:nvSpPr>
        <p:spPr>
          <a:xfrm>
            <a:off x="2906455" y="7084130"/>
            <a:ext cx="1033011" cy="461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325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10F5922-3CDA-4585-8326-9CB45756D445}"/>
              </a:ext>
            </a:extLst>
          </p:cNvPr>
          <p:cNvCxnSpPr>
            <a:cxnSpLocks/>
            <a:stCxn id="2" idx="2"/>
            <a:endCxn id="89" idx="0"/>
          </p:cNvCxnSpPr>
          <p:nvPr/>
        </p:nvCxnSpPr>
        <p:spPr>
          <a:xfrm>
            <a:off x="4557867" y="2531004"/>
            <a:ext cx="0" cy="325231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6A5693A-EED4-4551-9CD6-0153B32A6EF7}"/>
              </a:ext>
            </a:extLst>
          </p:cNvPr>
          <p:cNvSpPr/>
          <p:nvPr/>
        </p:nvSpPr>
        <p:spPr>
          <a:xfrm>
            <a:off x="3709045" y="2007784"/>
            <a:ext cx="16976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ODDPub</a:t>
            </a:r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 and</a:t>
            </a:r>
          </a:p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Manual Verification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8E50F4-3EB6-4472-AB36-428E5FC342AB}"/>
              </a:ext>
            </a:extLst>
          </p:cNvPr>
          <p:cNvCxnSpPr>
            <a:cxnSpLocks/>
          </p:cNvCxnSpPr>
          <p:nvPr/>
        </p:nvCxnSpPr>
        <p:spPr>
          <a:xfrm flipH="1" flipV="1">
            <a:off x="4557866" y="1405801"/>
            <a:ext cx="2239" cy="6468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F7B5AA1-6411-4DB4-BA6B-6917164AE427}"/>
              </a:ext>
            </a:extLst>
          </p:cNvPr>
          <p:cNvCxnSpPr>
            <a:cxnSpLocks/>
            <a:stCxn id="46" idx="2"/>
            <a:endCxn id="37" idx="0"/>
          </p:cNvCxnSpPr>
          <p:nvPr/>
        </p:nvCxnSpPr>
        <p:spPr>
          <a:xfrm>
            <a:off x="2271910" y="2405232"/>
            <a:ext cx="1" cy="26837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E436A577-EB67-4219-929E-242465663E95}"/>
              </a:ext>
            </a:extLst>
          </p:cNvPr>
          <p:cNvSpPr/>
          <p:nvPr/>
        </p:nvSpPr>
        <p:spPr>
          <a:xfrm>
            <a:off x="1830923" y="2097455"/>
            <a:ext cx="88197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DataStet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6F92F92-9331-477A-8B37-F8DE7AC5719E}"/>
              </a:ext>
            </a:extLst>
          </p:cNvPr>
          <p:cNvCxnSpPr>
            <a:cxnSpLocks/>
          </p:cNvCxnSpPr>
          <p:nvPr/>
        </p:nvCxnSpPr>
        <p:spPr>
          <a:xfrm flipH="1" flipV="1">
            <a:off x="2273693" y="1405802"/>
            <a:ext cx="1" cy="6916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5059535" y="3284493"/>
            <a:ext cx="1828113" cy="480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Confirmed Citations</a:t>
            </a:r>
          </a:p>
          <a:p>
            <a:r>
              <a:rPr lang="de-DE" sz="1232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(113 Reusing Papers)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4065153" y="333098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4065153" y="44107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4562344" y="374360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5050582" y="4463588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4065153" y="2234670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34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4562344" y="2647285"/>
            <a:ext cx="0" cy="68369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5055059" y="2278464"/>
            <a:ext cx="1610547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4060675" y="1135562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28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4557867" y="1548176"/>
            <a:ext cx="4478" cy="68649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5050581" y="1179356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E300-3FD7-4319-9640-2C4886D46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3A751-5B87-4E9F-8BB0-8F64161D3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156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74</Words>
  <Application>Microsoft Office PowerPoint</Application>
  <PresentationFormat>Custom</PresentationFormat>
  <Paragraphs>40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30</cp:revision>
  <dcterms:created xsi:type="dcterms:W3CDTF">2025-10-15T05:19:59Z</dcterms:created>
  <dcterms:modified xsi:type="dcterms:W3CDTF">2025-10-23T07:01:22Z</dcterms:modified>
</cp:coreProperties>
</file>