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256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35" d="100"/>
          <a:sy n="135" d="100"/>
        </p:scale>
        <p:origin x="1872" y="-14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3697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5892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564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888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8072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4181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556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6129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2109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6822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7925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22.10.2025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960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F1A589E-DD35-441D-ABDA-37D4F20F0379}"/>
              </a:ext>
            </a:extLst>
          </p:cNvPr>
          <p:cNvSpPr/>
          <p:nvPr/>
        </p:nvSpPr>
        <p:spPr>
          <a:xfrm>
            <a:off x="3464482" y="3739545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2385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15322F6-77E8-48C4-B056-50F80F699609}"/>
              </a:ext>
            </a:extLst>
          </p:cNvPr>
          <p:cNvSpPr/>
          <p:nvPr/>
        </p:nvSpPr>
        <p:spPr>
          <a:xfrm>
            <a:off x="3464482" y="4659776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118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5F9B437-0D9F-43EC-AE11-4D38AB16DEF0}"/>
              </a:ext>
            </a:extLst>
          </p:cNvPr>
          <p:cNvSpPr/>
          <p:nvPr/>
        </p:nvSpPr>
        <p:spPr>
          <a:xfrm>
            <a:off x="3464499" y="621628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1032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C13C7B-2E0E-4FF4-AB33-135574BA2A7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3888208" y="4091192"/>
            <a:ext cx="0" cy="56858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518AA32-5E69-499A-A2CB-589D567F8FD8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3888208" y="5011423"/>
            <a:ext cx="17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5B561F-3DB8-42CB-9CBC-038948D310CA}"/>
              </a:ext>
            </a:extLst>
          </p:cNvPr>
          <p:cNvSpPr/>
          <p:nvPr/>
        </p:nvSpPr>
        <p:spPr>
          <a:xfrm>
            <a:off x="4308118" y="3776868"/>
            <a:ext cx="248665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Restricted / Full-Access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72B207-7A8B-4402-9F52-285DC1B0BBA2}"/>
              </a:ext>
            </a:extLst>
          </p:cNvPr>
          <p:cNvSpPr/>
          <p:nvPr/>
        </p:nvSpPr>
        <p:spPr>
          <a:xfrm>
            <a:off x="4271005" y="4634156"/>
            <a:ext cx="212694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Mentioned Datasets</a:t>
            </a: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(Manually Screened)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9C2CA-81E4-44C0-8AA4-173BAF7F34BD}"/>
              </a:ext>
            </a:extLst>
          </p:cNvPr>
          <p:cNvSpPr/>
          <p:nvPr/>
        </p:nvSpPr>
        <p:spPr>
          <a:xfrm>
            <a:off x="4303434" y="6176659"/>
            <a:ext cx="212694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(Manually Screened)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7BA3527-87EC-4319-9AE6-9AF455FE0676}"/>
              </a:ext>
            </a:extLst>
          </p:cNvPr>
          <p:cNvSpPr/>
          <p:nvPr/>
        </p:nvSpPr>
        <p:spPr>
          <a:xfrm>
            <a:off x="1781846" y="465977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119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B34D7AD-5FA7-4F4B-A347-F882B053B048}"/>
              </a:ext>
            </a:extLst>
          </p:cNvPr>
          <p:cNvSpPr/>
          <p:nvPr/>
        </p:nvSpPr>
        <p:spPr>
          <a:xfrm>
            <a:off x="1781863" y="6216280"/>
            <a:ext cx="821637" cy="351647"/>
          </a:xfrm>
          <a:prstGeom prst="roundRect">
            <a:avLst/>
          </a:prstGeom>
          <a:gradFill flip="none" rotWithShape="1">
            <a:gsLst>
              <a:gs pos="84000">
                <a:schemeClr val="accent1">
                  <a:lumMod val="20000"/>
                  <a:lumOff val="80000"/>
                </a:schemeClr>
              </a:gs>
              <a:gs pos="68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790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6692EBCE-E7C8-498F-9B66-D28428C38FE7}"/>
              </a:ext>
            </a:extLst>
          </p:cNvPr>
          <p:cNvSpPr/>
          <p:nvPr/>
        </p:nvSpPr>
        <p:spPr>
          <a:xfrm>
            <a:off x="2623173" y="7096680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1497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4A59E55-1123-41CF-9FF3-F2082F8B3C5D}"/>
              </a:ext>
            </a:extLst>
          </p:cNvPr>
          <p:cNvCxnSpPr>
            <a:cxnSpLocks/>
            <a:stCxn id="37" idx="2"/>
            <a:endCxn id="38" idx="0"/>
          </p:cNvCxnSpPr>
          <p:nvPr/>
        </p:nvCxnSpPr>
        <p:spPr>
          <a:xfrm>
            <a:off x="2189478" y="5011423"/>
            <a:ext cx="3204" cy="12048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C8CB980-D4CC-4B64-97C7-0DACD7E52C16}"/>
              </a:ext>
            </a:extLst>
          </p:cNvPr>
          <p:cNvCxnSpPr>
            <a:cxnSpLocks/>
            <a:stCxn id="38" idx="2"/>
            <a:endCxn id="39" idx="0"/>
          </p:cNvCxnSpPr>
          <p:nvPr/>
        </p:nvCxnSpPr>
        <p:spPr>
          <a:xfrm>
            <a:off x="2192682" y="6567927"/>
            <a:ext cx="838123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6500A19-34AF-481D-90E9-7A15CD95C98D}"/>
              </a:ext>
            </a:extLst>
          </p:cNvPr>
          <p:cNvSpPr/>
          <p:nvPr/>
        </p:nvSpPr>
        <p:spPr>
          <a:xfrm>
            <a:off x="229128" y="4620156"/>
            <a:ext cx="152666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Mentioned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(DataStet)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D7A0D1F-7F9E-42B5-9084-1E0CD2E1F859}"/>
              </a:ext>
            </a:extLst>
          </p:cNvPr>
          <p:cNvSpPr/>
          <p:nvPr/>
        </p:nvSpPr>
        <p:spPr>
          <a:xfrm>
            <a:off x="229128" y="6168964"/>
            <a:ext cx="1526663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(DataStet)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FBE4FCF-8599-453D-ACF1-7A4330EE1F2C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3030805" y="6567927"/>
            <a:ext cx="857420" cy="52875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668D4145-09E9-49E0-ADC6-0FAF2836A917}"/>
              </a:ext>
            </a:extLst>
          </p:cNvPr>
          <p:cNvSpPr/>
          <p:nvPr/>
        </p:nvSpPr>
        <p:spPr>
          <a:xfrm>
            <a:off x="1927797" y="7483280"/>
            <a:ext cx="2245616" cy="8227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Mentions of Datasets</a:t>
            </a:r>
          </a:p>
          <a:p>
            <a:pPr algn="ctr">
              <a:lnSpc>
                <a:spcPct val="150000"/>
              </a:lnSpc>
            </a:pP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in 134 Charité Papers</a:t>
            </a:r>
            <a:endParaRPr lang="de-DE" sz="11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Reused by 1390 Papers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46E5E13-378B-484F-A381-094CCFBA2949}"/>
              </a:ext>
            </a:extLst>
          </p:cNvPr>
          <p:cNvCxnSpPr>
            <a:cxnSpLocks/>
            <a:stCxn id="89" idx="2"/>
            <a:endCxn id="9" idx="0"/>
          </p:cNvCxnSpPr>
          <p:nvPr/>
        </p:nvCxnSpPr>
        <p:spPr>
          <a:xfrm>
            <a:off x="3884392" y="3108620"/>
            <a:ext cx="3816" cy="63092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114DA72-2DDC-49FF-88D2-5DA57C7BF46C}"/>
              </a:ext>
            </a:extLst>
          </p:cNvPr>
          <p:cNvSpPr/>
          <p:nvPr/>
        </p:nvSpPr>
        <p:spPr>
          <a:xfrm>
            <a:off x="2649219" y="5459906"/>
            <a:ext cx="815263" cy="351647"/>
          </a:xfrm>
          <a:prstGeom prst="roundRect">
            <a:avLst/>
          </a:prstGeom>
          <a:gradFill flip="none" rotWithShape="1">
            <a:gsLst>
              <a:gs pos="84000">
                <a:srgbClr val="D8F6E3"/>
              </a:gs>
              <a:gs pos="65000">
                <a:srgbClr val="93FF81"/>
              </a:gs>
              <a:gs pos="100000">
                <a:srgbClr val="D9FFDD"/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DEBAAEA7-28FC-4C4C-85C6-F295E82C619C}"/>
              </a:ext>
            </a:extLst>
          </p:cNvPr>
          <p:cNvCxnSpPr>
            <a:cxnSpLocks/>
            <a:endCxn id="80" idx="0"/>
          </p:cNvCxnSpPr>
          <p:nvPr/>
        </p:nvCxnSpPr>
        <p:spPr>
          <a:xfrm>
            <a:off x="2189495" y="5023080"/>
            <a:ext cx="867356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FAE4691-A331-4DBF-B116-0C1888F2171E}"/>
              </a:ext>
            </a:extLst>
          </p:cNvPr>
          <p:cNvCxnSpPr>
            <a:cxnSpLocks/>
            <a:endCxn id="80" idx="0"/>
          </p:cNvCxnSpPr>
          <p:nvPr/>
        </p:nvCxnSpPr>
        <p:spPr>
          <a:xfrm flipH="1">
            <a:off x="3056851" y="5023080"/>
            <a:ext cx="831374" cy="43682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B2BD9BD0-063F-41F0-AF7A-83DA5949A806}"/>
              </a:ext>
            </a:extLst>
          </p:cNvPr>
          <p:cNvSpPr/>
          <p:nvPr/>
        </p:nvSpPr>
        <p:spPr>
          <a:xfrm>
            <a:off x="2199631" y="5840218"/>
            <a:ext cx="167511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Detected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E036A8D5-381A-49F8-A9E1-4091609F5EF9}"/>
              </a:ext>
            </a:extLst>
          </p:cNvPr>
          <p:cNvSpPr/>
          <p:nvPr/>
        </p:nvSpPr>
        <p:spPr>
          <a:xfrm>
            <a:off x="3460666" y="2756973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FCE5D6"/>
              </a:gs>
              <a:gs pos="68000">
                <a:schemeClr val="accent2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1583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DFAD21-E790-4E44-A833-74531D5D852B}"/>
              </a:ext>
            </a:extLst>
          </p:cNvPr>
          <p:cNvSpPr/>
          <p:nvPr/>
        </p:nvSpPr>
        <p:spPr>
          <a:xfrm>
            <a:off x="4308118" y="2739829"/>
            <a:ext cx="166595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Papers with Shared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F56F1E4-3546-4BA0-88CD-F399B7C26180}"/>
              </a:ext>
            </a:extLst>
          </p:cNvPr>
          <p:cNvSpPr/>
          <p:nvPr/>
        </p:nvSpPr>
        <p:spPr>
          <a:xfrm>
            <a:off x="2110235" y="1836272"/>
            <a:ext cx="1880740" cy="351647"/>
          </a:xfrm>
          <a:prstGeom prst="roundRect">
            <a:avLst/>
          </a:prstGeom>
          <a:gradFill flip="none" rotWithShape="1">
            <a:gsLst>
              <a:gs pos="69000">
                <a:schemeClr val="accent2">
                  <a:lumMod val="60000"/>
                  <a:lumOff val="40000"/>
                </a:schemeClr>
              </a:gs>
              <a:gs pos="0">
                <a:schemeClr val="accent2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15748 Charité Papers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44CFEE-44A3-463A-B397-18E4801C7FA1}"/>
              </a:ext>
            </a:extLst>
          </p:cNvPr>
          <p:cNvCxnSpPr>
            <a:stCxn id="37" idx="3"/>
            <a:endCxn id="11" idx="1"/>
          </p:cNvCxnSpPr>
          <p:nvPr/>
        </p:nvCxnSpPr>
        <p:spPr>
          <a:xfrm>
            <a:off x="2597109" y="4835600"/>
            <a:ext cx="867373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5BEB27-C360-4D58-8AE3-C08092988058}"/>
              </a:ext>
            </a:extLst>
          </p:cNvPr>
          <p:cNvCxnSpPr>
            <a:cxnSpLocks/>
            <a:stCxn id="38" idx="3"/>
            <a:endCxn id="13" idx="1"/>
          </p:cNvCxnSpPr>
          <p:nvPr/>
        </p:nvCxnSpPr>
        <p:spPr>
          <a:xfrm>
            <a:off x="2603500" y="6392104"/>
            <a:ext cx="860999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ED85551-9A16-4CFB-B3E1-92401FDE4558}"/>
              </a:ext>
            </a:extLst>
          </p:cNvPr>
          <p:cNvSpPr/>
          <p:nvPr/>
        </p:nvSpPr>
        <p:spPr>
          <a:xfrm>
            <a:off x="2744936" y="4620156"/>
            <a:ext cx="57171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(62)</a:t>
            </a:r>
            <a:endParaRPr lang="de-DE" sz="9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CC2D1C-CC06-4BB5-A6EA-12AC3E06A1F1}"/>
              </a:ext>
            </a:extLst>
          </p:cNvPr>
          <p:cNvSpPr/>
          <p:nvPr/>
        </p:nvSpPr>
        <p:spPr>
          <a:xfrm>
            <a:off x="2751328" y="6190122"/>
            <a:ext cx="57171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6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(325)</a:t>
            </a:r>
            <a:endParaRPr lang="de-DE" sz="900" dirty="0">
              <a:solidFill>
                <a:schemeClr val="bg1">
                  <a:lumMod val="6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E9FF791-EB9E-4172-8E36-126A1971CBBF}"/>
              </a:ext>
            </a:extLst>
          </p:cNvPr>
          <p:cNvSpPr/>
          <p:nvPr/>
        </p:nvSpPr>
        <p:spPr>
          <a:xfrm>
            <a:off x="4311933" y="3699924"/>
            <a:ext cx="155798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Confirmed Citations</a:t>
            </a:r>
          </a:p>
          <a:p>
            <a:r>
              <a:rPr lang="de-DE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(113 Reusing Papers)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59DB630-BAD7-4C3C-8ABD-E809EE7D6421}"/>
              </a:ext>
            </a:extLst>
          </p:cNvPr>
          <p:cNvSpPr/>
          <p:nvPr/>
        </p:nvSpPr>
        <p:spPr>
          <a:xfrm>
            <a:off x="3464482" y="3739545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1765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782143D-917A-4630-A7FB-072612AFAFCB}"/>
              </a:ext>
            </a:extLst>
          </p:cNvPr>
          <p:cNvSpPr/>
          <p:nvPr/>
        </p:nvSpPr>
        <p:spPr>
          <a:xfrm>
            <a:off x="3464482" y="4659776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8FEEB8-535C-4F9D-BE06-D60DEC78B11A}"/>
              </a:ext>
            </a:extLst>
          </p:cNvPr>
          <p:cNvCxnSpPr>
            <a:cxnSpLocks/>
            <a:stCxn id="32" idx="2"/>
            <a:endCxn id="33" idx="0"/>
          </p:cNvCxnSpPr>
          <p:nvPr/>
        </p:nvCxnSpPr>
        <p:spPr>
          <a:xfrm>
            <a:off x="3888208" y="4091192"/>
            <a:ext cx="0" cy="56858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8014AD8-AB9C-478D-A1B4-21E726B7E060}"/>
              </a:ext>
            </a:extLst>
          </p:cNvPr>
          <p:cNvSpPr/>
          <p:nvPr/>
        </p:nvSpPr>
        <p:spPr>
          <a:xfrm>
            <a:off x="4304303" y="4704794"/>
            <a:ext cx="1558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Estimated Citations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66615DB-D6CA-4E80-B064-CD8973E779A9}"/>
              </a:ext>
            </a:extLst>
          </p:cNvPr>
          <p:cNvSpPr/>
          <p:nvPr/>
        </p:nvSpPr>
        <p:spPr>
          <a:xfrm>
            <a:off x="3464482" y="2805223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34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CB45425-9B7D-49B1-B7E6-6CE84CD5DD4F}"/>
              </a:ext>
            </a:extLst>
          </p:cNvPr>
          <p:cNvCxnSpPr>
            <a:cxnSpLocks/>
            <a:stCxn id="36" idx="2"/>
            <a:endCxn id="32" idx="0"/>
          </p:cNvCxnSpPr>
          <p:nvPr/>
        </p:nvCxnSpPr>
        <p:spPr>
          <a:xfrm>
            <a:off x="3888208" y="3156870"/>
            <a:ext cx="0" cy="582675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793B5009-2567-4219-828C-A2FC4468E2F5}"/>
              </a:ext>
            </a:extLst>
          </p:cNvPr>
          <p:cNvSpPr/>
          <p:nvPr/>
        </p:nvSpPr>
        <p:spPr>
          <a:xfrm>
            <a:off x="4308118" y="2842546"/>
            <a:ext cx="137257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Datasets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4DE513D-2FB1-49B7-A2CE-E030FD9CE2A4}"/>
              </a:ext>
            </a:extLst>
          </p:cNvPr>
          <p:cNvSpPr/>
          <p:nvPr/>
        </p:nvSpPr>
        <p:spPr>
          <a:xfrm>
            <a:off x="3460666" y="1868520"/>
            <a:ext cx="847452" cy="351647"/>
          </a:xfrm>
          <a:prstGeom prst="roundRect">
            <a:avLst/>
          </a:prstGeom>
          <a:gradFill flip="none" rotWithShape="1">
            <a:gsLst>
              <a:gs pos="84000">
                <a:srgbClr val="75D4FF"/>
              </a:gs>
              <a:gs pos="68000">
                <a:srgbClr val="00B0F0"/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28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2B4690F-D349-475B-81BF-F2E80E19C269}"/>
              </a:ext>
            </a:extLst>
          </p:cNvPr>
          <p:cNvCxnSpPr>
            <a:cxnSpLocks/>
            <a:stCxn id="39" idx="2"/>
            <a:endCxn id="36" idx="0"/>
          </p:cNvCxnSpPr>
          <p:nvPr/>
        </p:nvCxnSpPr>
        <p:spPr>
          <a:xfrm>
            <a:off x="3884392" y="2220167"/>
            <a:ext cx="3816" cy="585056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FB321C3-1C3C-4DCB-87EF-3C35A20F30A0}"/>
              </a:ext>
            </a:extLst>
          </p:cNvPr>
          <p:cNvSpPr/>
          <p:nvPr/>
        </p:nvSpPr>
        <p:spPr>
          <a:xfrm>
            <a:off x="4304302" y="1905843"/>
            <a:ext cx="15580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Charité Data Articles</a:t>
            </a:r>
            <a:endParaRPr lang="de-D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44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82</Words>
  <Application>Microsoft Office PowerPoint</Application>
  <PresentationFormat>Widescreen</PresentationFormat>
  <Paragraphs>34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24</cp:revision>
  <dcterms:created xsi:type="dcterms:W3CDTF">2025-10-15T05:19:59Z</dcterms:created>
  <dcterms:modified xsi:type="dcterms:W3CDTF">2025-10-22T11:43:39Z</dcterms:modified>
</cp:coreProperties>
</file>